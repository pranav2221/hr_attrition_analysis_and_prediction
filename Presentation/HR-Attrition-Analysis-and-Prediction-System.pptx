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rimson Pro Semi Bold" panose="020B0604020202020204" charset="0"/>
      <p:regular r:id="rId14"/>
    </p:embeddedFont>
    <p:embeddedFont>
      <p:font typeface="Heebo" pitchFamily="2" charset="-79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0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mailto:patil7757pranav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HR Attrition Analysis &amp; Prediction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Name: Pranav Patil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Role: Data Analyst / ML Enthusiast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Tools: Python, SQL, Machine Learning, Streamlit, FastAPI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22643B-31F1-8A2A-D6A4-E070EB1CC83A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621387"/>
            <a:ext cx="7224236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Understanding the Attrition Challenge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790932" y="1525310"/>
            <a:ext cx="3668078" cy="3290411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1016913" y="1751290"/>
            <a:ext cx="677942" cy="677942"/>
          </a:xfrm>
          <a:prstGeom prst="roundRect">
            <a:avLst>
              <a:gd name="adj" fmla="val 13486531"/>
            </a:avLst>
          </a:prstGeom>
          <a:solidFill>
            <a:srgbClr val="2150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3365" y="1937623"/>
            <a:ext cx="305038" cy="305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6913" y="2655213"/>
            <a:ext cx="3216116" cy="706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is Employee Attrition?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16913" y="3496985"/>
            <a:ext cx="3216116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voluntary or involuntary departure of employees from an organization.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4990" y="1525310"/>
            <a:ext cx="3668078" cy="3290411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4910971" y="1751290"/>
            <a:ext cx="677942" cy="677942"/>
          </a:xfrm>
          <a:prstGeom prst="roundRect">
            <a:avLst>
              <a:gd name="adj" fmla="val 13486531"/>
            </a:avLst>
          </a:prstGeom>
          <a:solidFill>
            <a:srgbClr val="2150F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7423" y="1937623"/>
            <a:ext cx="305038" cy="3050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0971" y="2655213"/>
            <a:ext cx="2846784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Costly for Organizations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0971" y="3143845"/>
            <a:ext cx="3216116" cy="1445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attrition leads to significant expenses in recruitment, training, and lost productivity.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0932" y="5041702"/>
            <a:ext cx="7562136" cy="2567464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1016913" y="5267682"/>
            <a:ext cx="677942" cy="677942"/>
          </a:xfrm>
          <a:prstGeom prst="roundRect">
            <a:avLst>
              <a:gd name="adj" fmla="val 13486531"/>
            </a:avLst>
          </a:prstGeom>
          <a:solidFill>
            <a:srgbClr val="2150F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65" y="5454015"/>
            <a:ext cx="305038" cy="3050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16913" y="6171605"/>
            <a:ext cx="3594259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Importance of Early Prediction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16913" y="6660237"/>
            <a:ext cx="7110174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Proactive identification allows for timely intervention, improving retention and reducing costs.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797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432" y="3150989"/>
            <a:ext cx="6820853" cy="51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Objectives: A Strategic Approach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788432" y="3976449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8432" y="4304228"/>
            <a:ext cx="642354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788432" y="4453057"/>
            <a:ext cx="278046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Analyze Attrition Patterns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88432" y="4899303"/>
            <a:ext cx="6423541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Deep dive into historical data to uncover trends and behaviors.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18308" y="3976449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418308" y="4304228"/>
            <a:ext cx="642366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7418308" y="4453057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Identify Key Drivers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18308" y="4899303"/>
            <a:ext cx="6423660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Pinpoint the most influential factors contributing to employee turnover.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8432" y="5920502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8432" y="6248281"/>
            <a:ext cx="6423541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788432" y="6397109"/>
            <a:ext cx="25797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Build Predictive Models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8432" y="6843355"/>
            <a:ext cx="6423541" cy="660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robust machine learning models for accurate attrition forecasting.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18308" y="5920502"/>
            <a:ext cx="206335" cy="25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18308" y="6248281"/>
            <a:ext cx="6423660" cy="2286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7418308" y="6397109"/>
            <a:ext cx="2782133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Deploy Interactive System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418308" y="6843355"/>
            <a:ext cx="642366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a user-friendly tool for HR to assess attrition risk in real-time.</a:t>
            </a:r>
            <a:endParaRPr lang="en-US" sz="16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21C7AE-544D-E1E6-0EF6-A0A0772BBB17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8622" y="436602"/>
            <a:ext cx="6605707" cy="395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Overview: The Foundation of Our Analysis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2308622" y="1485067"/>
            <a:ext cx="5333286" cy="1235750"/>
          </a:xfrm>
          <a:prstGeom prst="roundRect">
            <a:avLst>
              <a:gd name="adj" fmla="val 8879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308622" y="1462207"/>
            <a:ext cx="5333286" cy="91440"/>
          </a:xfrm>
          <a:prstGeom prst="roundRect">
            <a:avLst>
              <a:gd name="adj" fmla="val 25970"/>
            </a:avLst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4737854" y="1247656"/>
            <a:ext cx="474821" cy="474821"/>
          </a:xfrm>
          <a:prstGeom prst="roundRect">
            <a:avLst>
              <a:gd name="adj" fmla="val 192578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4880253" y="1366361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489716" y="1880830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HR Employee Dataset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489716" y="2286357"/>
            <a:ext cx="497109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data capturing various employee attributes.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08622" y="3116461"/>
            <a:ext cx="5333286" cy="1235750"/>
          </a:xfrm>
          <a:prstGeom prst="roundRect">
            <a:avLst>
              <a:gd name="adj" fmla="val 887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308622" y="3093601"/>
            <a:ext cx="5333286" cy="91440"/>
          </a:xfrm>
          <a:prstGeom prst="roundRect">
            <a:avLst>
              <a:gd name="adj" fmla="val 25970"/>
            </a:avLst>
          </a:prstGeom>
          <a:solidFill>
            <a:srgbClr val="2150FE"/>
          </a:solidFill>
          <a:ln/>
        </p:spPr>
      </p:sp>
      <p:sp>
        <p:nvSpPr>
          <p:cNvPr id="11" name="Shape 9"/>
          <p:cNvSpPr/>
          <p:nvPr/>
        </p:nvSpPr>
        <p:spPr>
          <a:xfrm>
            <a:off x="4737854" y="2879050"/>
            <a:ext cx="474821" cy="474821"/>
          </a:xfrm>
          <a:prstGeom prst="roundRect">
            <a:avLst>
              <a:gd name="adj" fmla="val 192578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4880253" y="2997756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489716" y="3512225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Records &amp; Features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489716" y="3917752"/>
            <a:ext cx="497109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Approximately 1,500 records with 35 descriptive features.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08622" y="4747855"/>
            <a:ext cx="5333286" cy="1235750"/>
          </a:xfrm>
          <a:prstGeom prst="roundRect">
            <a:avLst>
              <a:gd name="adj" fmla="val 887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308622" y="4724995"/>
            <a:ext cx="5333286" cy="91440"/>
          </a:xfrm>
          <a:prstGeom prst="roundRect">
            <a:avLst>
              <a:gd name="adj" fmla="val 25970"/>
            </a:avLst>
          </a:prstGeom>
          <a:solidFill>
            <a:srgbClr val="215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37854" y="4510445"/>
            <a:ext cx="474821" cy="474821"/>
          </a:xfrm>
          <a:prstGeom prst="roundRect">
            <a:avLst>
              <a:gd name="adj" fmla="val 192578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4880253" y="4629150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489716" y="5143619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Target Variable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489716" y="5549146"/>
            <a:ext cx="497109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Attrition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Binary classification (Yes / No).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08622" y="6379250"/>
            <a:ext cx="5333286" cy="1235750"/>
          </a:xfrm>
          <a:prstGeom prst="roundRect">
            <a:avLst>
              <a:gd name="adj" fmla="val 887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308622" y="6356390"/>
            <a:ext cx="5333286" cy="91440"/>
          </a:xfrm>
          <a:prstGeom prst="roundRect">
            <a:avLst>
              <a:gd name="adj" fmla="val 25970"/>
            </a:avLst>
          </a:prstGeom>
          <a:solidFill>
            <a:srgbClr val="215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4737854" y="6141839"/>
            <a:ext cx="474821" cy="474821"/>
          </a:xfrm>
          <a:prstGeom prst="roundRect">
            <a:avLst>
              <a:gd name="adj" fmla="val 192578"/>
            </a:avLst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4880253" y="6260544"/>
            <a:ext cx="189905" cy="237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489716" y="6775013"/>
            <a:ext cx="1978819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Types Utilized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489716" y="7180540"/>
            <a:ext cx="4971098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Numerical, categorical, and ordinal data types processed.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766" y="1247656"/>
            <a:ext cx="4293394" cy="4293394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173DA264-3DF9-9953-1383-70D13197692A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848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1470" y="2910959"/>
            <a:ext cx="8236029" cy="476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Cleaning &amp; Preparation: Ensuring Data Quality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470" y="3674031"/>
            <a:ext cx="6033611" cy="7630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72208" y="4627840"/>
            <a:ext cx="2435185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Handling Missing Values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1472208" y="5040273"/>
            <a:ext cx="5652135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Strategically imputed or removed to maintain data integrity.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81" y="3674031"/>
            <a:ext cx="6033730" cy="7630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05819" y="4627840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Feature Selection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505819" y="5040273"/>
            <a:ext cx="5652254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Identified and prioritized features most relevant to attrition.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470" y="5536168"/>
            <a:ext cx="6033611" cy="7630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72208" y="6489978"/>
            <a:ext cx="3066693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Encoding Categorical Variables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1472208" y="6902410"/>
            <a:ext cx="5652135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Transformed qualitative data into numerical format for model compatibility.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081" y="5536168"/>
            <a:ext cx="6033730" cy="7630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05819" y="6489978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Train-Test Split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7505819" y="6902410"/>
            <a:ext cx="5652254" cy="61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Stratified split to ensure representative distribution of the target variable.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C1F6A0-650B-81E0-BA1D-F1E047AE5765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1009947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Exploratory Data Analysis (EDA): Uncovering Insights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86057"/>
            <a:ext cx="5564862" cy="55648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9674" y="1757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919674" y="2338864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Attrition Distribution: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Uneven class distribution observed, indicating imbalance.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919674" y="3143964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Years at Company: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Employees with fewer years show higher attrition rates.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919674" y="3949065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Job Satisfaction: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Lower satisfaction strongly correlates with increased attrition.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919674" y="4754166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Work-Life Balance: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Poor balance is a significant predictor of employee departure.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B55D9C-586B-FFE1-4A65-60CBD71EE5D4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0772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SQL Analysis: Business Insights from Raw Data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2281833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28183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539127"/>
            <a:ext cx="29588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SQL for Business Insights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029545"/>
            <a:ext cx="30587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Leveraged SQL to extract and aggregate key data points for trend analysis.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2281833"/>
            <a:ext cx="3664863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141268" y="228183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10520482" y="2539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Sample Queries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20482" y="3029545"/>
            <a:ext cx="30588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Queries focused on department-wise attrition, salary-level attrition, and average tenure.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4965263"/>
            <a:ext cx="3664744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496526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2225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Analysis Workflow Role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628924" y="5712976"/>
            <a:ext cx="30587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SQL served as the initial data exploration and aggregation layer, informing feature engineering.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D74C91-ACC5-CC62-15FF-2C0646A89EE4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8057" y="1036796"/>
            <a:ext cx="7160419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Machine Learning Models: Predicting Attrition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48057" y="1777246"/>
            <a:ext cx="7847886" cy="1066919"/>
          </a:xfrm>
          <a:prstGeom prst="roundRect">
            <a:avLst>
              <a:gd name="adj" fmla="val 41652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33199" y="1962388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3199" y="2362795"/>
            <a:ext cx="747760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strong baseline model for binary classification, providing interpretable coefficients.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8057" y="3029307"/>
            <a:ext cx="7847886" cy="1066919"/>
          </a:xfrm>
          <a:prstGeom prst="roundRect">
            <a:avLst>
              <a:gd name="adj" fmla="val 41652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33199" y="3214449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3199" y="3614857"/>
            <a:ext cx="747760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Captures non-linear relationships and interactions between features, easy to visualize.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8057" y="4281368"/>
            <a:ext cx="7847886" cy="1363147"/>
          </a:xfrm>
          <a:prstGeom prst="roundRect">
            <a:avLst>
              <a:gd name="adj" fmla="val 32601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33199" y="4466511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3199" y="4866918"/>
            <a:ext cx="7477601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Ensemble method mitigating overfitting and improving generalization through multiple trees.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8057" y="5829657"/>
            <a:ext cx="7847886" cy="1363147"/>
          </a:xfrm>
          <a:prstGeom prst="roundRect">
            <a:avLst>
              <a:gd name="adj" fmla="val 32601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33199" y="6014799"/>
            <a:ext cx="2314456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Multiple Models?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3199" y="6415207"/>
            <a:ext cx="7477601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 compare performance, identify robust patterns, and leverage diverse algorithmic strengths.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4603"/>
            <a:ext cx="836783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 Evaluation Strategy: Beyond Accuracy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478042" y="312955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75%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1711881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397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8881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Proportion of correctly identified attrition cases among all predicted positive.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12955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80%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1711881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397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Recall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8881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Proportion of actual attrition cases correctly identified by the model.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12955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77%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1711881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3976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F1-Score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58881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Harmonic mean of Precision and Recall, balancing both metrics.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686907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Due to class imbalance, accuracy can be misleading. Focusing on Precision, Recall, and F1-score provides a more comprehensive evaluation, with </a:t>
            </a: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Recall being critical for early warning systems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minimize missed attrition cases.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2B8664-0244-B0B2-BB7B-1DBB92BAF65C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1598" y="435173"/>
            <a:ext cx="6495455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Threshold &amp; Business Logic: Practical Application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2311598" y="1226106"/>
            <a:ext cx="2353270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Probability-Based Prediction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2311598" y="1631394"/>
            <a:ext cx="4810601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Models output a probability score, indicating the likelihood of attrition.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11598" y="2295763"/>
            <a:ext cx="2053471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 Threshold (0.25)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311598" y="2701052"/>
            <a:ext cx="4810601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lower threshold prioritizes identifying potential attrition cases earlier.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11598" y="3365421"/>
            <a:ext cx="2415183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Trade-off: Recall vs. Precision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311598" y="3770709"/>
            <a:ext cx="4810601" cy="50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Optimized for higher recall at the expense of some precision, ensuring fewer false negatives.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820" y="1245870"/>
            <a:ext cx="4810601" cy="48106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15820" y="6234351"/>
            <a:ext cx="1977628" cy="247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Reasoning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515820" y="6639639"/>
            <a:ext cx="4810601" cy="101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early warning allows HR to intervene proactively, even if some predictions are false positives. The cost of a false negative (losing an employee) outweighs the cost of a false positive (unnecessary intervention).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6B42F6-A129-5666-2C50-3F681FF8CCD0}"/>
              </a:ext>
            </a:extLst>
          </p:cNvPr>
          <p:cNvSpPr/>
          <p:nvPr/>
        </p:nvSpPr>
        <p:spPr>
          <a:xfrm>
            <a:off x="12696825" y="7696200"/>
            <a:ext cx="1838325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913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04026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 appreciate your time and attention to this presentation on HR Attrition Analysis &amp; Prediction.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02121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any questions or further discussion, please feel free to reach out.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3927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Name: Pranav Patil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5732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Role: Data Analyst / ML Enthusiast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8753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Contact: 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4"/>
              </a:rPr>
              <a:t>patil7757pranav@gmail.com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692</Words>
  <Application>Microsoft Office PowerPoint</Application>
  <PresentationFormat>Custom</PresentationFormat>
  <Paragraphs>105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Crimson Pro Light</vt:lpstr>
      <vt:lpstr>Crimson Pro Semi Bold</vt:lpstr>
      <vt:lpstr>Arial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PRANAV PATIL</cp:lastModifiedBy>
  <cp:revision>2</cp:revision>
  <dcterms:created xsi:type="dcterms:W3CDTF">2026-01-07T13:21:49Z</dcterms:created>
  <dcterms:modified xsi:type="dcterms:W3CDTF">2026-01-07T13:24:54Z</dcterms:modified>
</cp:coreProperties>
</file>